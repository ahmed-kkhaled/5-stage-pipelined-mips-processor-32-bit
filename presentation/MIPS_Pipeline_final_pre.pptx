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59" r:id="rId6"/>
    <p:sldId id="266" r:id="rId7"/>
    <p:sldId id="260" r:id="rId8"/>
    <p:sldId id="261" r:id="rId9"/>
    <p:sldId id="267" r:id="rId10"/>
    <p:sldId id="263" r:id="rId11"/>
    <p:sldId id="268" r:id="rId12"/>
    <p:sldId id="264" r:id="rId13"/>
    <p:sldId id="265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156B8-4950-45A2-B3E3-4288F5A320B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3EF3D-61F6-4FED-B728-6D1C0DE7B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82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DE7C-6990-A114-CB19-F7FECE71A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85A9E-92FF-BB9D-FE99-E5B42C1D2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7912A-F99D-30BD-0BE5-35EEFE170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6D9D3-B5F8-EFD0-57FE-FE6338925B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35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A181C-1C30-4112-FC07-8A42D9E13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34B68-CD97-C853-299F-D8810DEE7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02BB2-7568-919D-ADFD-06915865C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4203C-D406-A3E6-C9A5-DB6ACDE66F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8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88199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454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0256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12132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29850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2032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80937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6618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6822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7163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6920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51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0798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49430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Pipelined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011680" y="12344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Processor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205740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Pipelined MIPS Processor in VHDL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103120" y="2697480"/>
            <a:ext cx="4937760" cy="36576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346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364992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273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Khaled Mohamed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712464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210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Tarek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Elmarghany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059936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684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Sameh Salah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78338C-30AE-2F6C-F5C3-DD2495964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179" y="144777"/>
            <a:ext cx="1262855" cy="126285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1E1B50B-E75C-746A-05FA-ECDF01751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7" y="184072"/>
            <a:ext cx="1343663" cy="1176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Pipelining?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multiple instructions simultaneously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5156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Analogy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pipeline: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 → Dry → Fold → Repeat (one at a time)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pipeline: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 #2 while Drying #1 while Folding #0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051560"/>
            <a:ext cx="4480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0972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14630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increases up to 5x
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takes 1 clock cycle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CPI approaches 1.0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 instruction unchanged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6060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Execution Timeline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3017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3035808"/>
            <a:ext cx="132588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71600" y="3035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3035808"/>
            <a:ext cx="1325880" cy="274320"/>
          </a:xfrm>
          <a:prstGeom prst="rect">
            <a:avLst/>
          </a:prstGeom>
          <a:solidFill>
            <a:srgbClr val="1E7C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035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3035808"/>
            <a:ext cx="1325880" cy="274320"/>
          </a:xfrm>
          <a:prstGeom prst="rect">
            <a:avLst/>
          </a:prstGeom>
          <a:solidFill>
            <a:srgbClr val="2490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3035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0" y="3035808"/>
            <a:ext cx="1325880" cy="274320"/>
          </a:xfrm>
          <a:prstGeom prst="rect">
            <a:avLst/>
          </a:prstGeom>
          <a:solidFill>
            <a:srgbClr val="2BA1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3035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40880" y="3035808"/>
            <a:ext cx="1325880" cy="274320"/>
          </a:xfrm>
          <a:prstGeom prst="rect">
            <a:avLst/>
          </a:prstGeom>
          <a:solidFill>
            <a:srgbClr val="32B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3035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3649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88920" y="3383280"/>
            <a:ext cx="132588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06240" y="3383280"/>
            <a:ext cx="1325880" cy="274320"/>
          </a:xfrm>
          <a:prstGeom prst="rect">
            <a:avLst/>
          </a:prstGeom>
          <a:solidFill>
            <a:srgbClr val="1E7C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23560" y="3383280"/>
            <a:ext cx="1325880" cy="274320"/>
          </a:xfrm>
          <a:prstGeom prst="rect">
            <a:avLst/>
          </a:prstGeom>
          <a:solidFill>
            <a:srgbClr val="2490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0880" y="3383280"/>
            <a:ext cx="1325880" cy="274320"/>
          </a:xfrm>
          <a:prstGeom prst="rect">
            <a:avLst/>
          </a:prstGeom>
          <a:solidFill>
            <a:srgbClr val="2BA1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37124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 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06240" y="3730752"/>
            <a:ext cx="132588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3730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23560" y="3730752"/>
            <a:ext cx="1325880" cy="274320"/>
          </a:xfrm>
          <a:prstGeom prst="rect">
            <a:avLst/>
          </a:prstGeom>
          <a:solidFill>
            <a:srgbClr val="1E7C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3730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40880" y="3730752"/>
            <a:ext cx="1325880" cy="274320"/>
          </a:xfrm>
          <a:prstGeom prst="rect">
            <a:avLst/>
          </a:prstGeom>
          <a:solidFill>
            <a:srgbClr val="2490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3730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" y="405993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 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23560" y="4078224"/>
            <a:ext cx="132588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40782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40880" y="4078224"/>
            <a:ext cx="1325880" cy="274320"/>
          </a:xfrm>
          <a:prstGeom prst="rect">
            <a:avLst/>
          </a:prstGeom>
          <a:solidFill>
            <a:srgbClr val="1E7C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40782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4320" y="44074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 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40880" y="4425696"/>
            <a:ext cx="132588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0" y="44256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371600" y="28346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788920" y="28346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06240" y="28346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23560" y="28346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40880" y="28346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Pipeline Stages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instruction passes through all 5 stages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05840"/>
            <a:ext cx="1645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005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828800" y="1197864"/>
            <a:ext cx="137160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536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Fetch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920240"/>
            <a:ext cx="1645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" y="1993392"/>
            <a:ext cx="15087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instruction from memory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PC by 4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IF/ID register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65960" y="1005840"/>
            <a:ext cx="1645920" cy="5029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1005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611880" y="1197864"/>
            <a:ext cx="137160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536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Decode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65960" y="1920240"/>
            <a:ext cx="1645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39112" y="1993392"/>
            <a:ext cx="15087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opcode &amp; fields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register file (rs, rt)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Sign-extend immediate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control signals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49040" y="1005840"/>
            <a:ext cx="164592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005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394960" y="1197864"/>
            <a:ext cx="137160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536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49040" y="1920240"/>
            <a:ext cx="1645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22192" y="1993392"/>
            <a:ext cx="15087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performs operation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memory address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MUX selects inputs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target computed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32120" y="1005840"/>
            <a:ext cx="1645920" cy="5029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1005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178040" y="1197864"/>
            <a:ext cx="137160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1536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Access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1920240"/>
            <a:ext cx="1645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A5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05272" y="1993392"/>
            <a:ext cx="15087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data memory (LW)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data memory (SW)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decision evaluated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ALU result through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15200" y="1005840"/>
            <a:ext cx="1645920" cy="50292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1005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315200" y="1536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Back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0" y="1920240"/>
            <a:ext cx="1645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B5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88352" y="1993392"/>
            <a:ext cx="15087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result to register file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Select: ALU result or memory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 writes PC+4 to $ra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instruction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Instructions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MIPS-I subset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005840"/>
            <a:ext cx="1645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005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R-Type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444752"/>
            <a:ext cx="1645920" cy="168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" y="1517904"/>
            <a:ext cx="15087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ADDU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 / SLTU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 / SRL / SRA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84248" y="1005840"/>
            <a:ext cx="1645920" cy="38404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1005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I-Type Arithmetic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84248" y="1444752"/>
            <a:ext cx="1645920" cy="168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75688" y="1517904"/>
            <a:ext cx="15087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/ ADDIU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/ ORI / XORI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SLTI / SLTIU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67328" y="1005840"/>
            <a:ext cx="1645920" cy="38404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05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67328" y="1444752"/>
            <a:ext cx="1645920" cy="168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7B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58768" y="1517904"/>
            <a:ext cx="15087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 (load word)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/ LBU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(store word)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50408" y="1005840"/>
            <a:ext cx="164592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0408" y="1005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50408" y="1444752"/>
            <a:ext cx="1645920" cy="168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41848" y="1517904"/>
            <a:ext cx="15087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 (branch equal)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BNE (branch not equal)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33488" y="1005840"/>
            <a:ext cx="1645920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1005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33488" y="1444752"/>
            <a:ext cx="1645920" cy="168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24928" y="1517904"/>
            <a:ext cx="15087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(jump)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 (jump &amp; link)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 (jump register)</a:t>
            </a:r>
            <a:endParaRPr lang="en-US" sz="1100" dirty="0"/>
          </a:p>
        </p:txBody>
      </p:sp>
      <p:pic>
        <p:nvPicPr>
          <p:cNvPr id="1026" name="Picture 2" descr="So what actually are immediate operands in MIPS | by Cache and Carry |  Medium">
            <a:extLst>
              <a:ext uri="{FF2B5EF4-FFF2-40B4-BE49-F238E27FC236}">
                <a16:creationId xmlns:a16="http://schemas.microsoft.com/office/drawing/2014/main" id="{8E415242-DCF0-AEA8-BADD-B27CCF2A4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613" y="3203214"/>
            <a:ext cx="6208775" cy="175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Registers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that carry data between stages to isolate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20116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IF/ID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" y="1463040"/>
            <a:ext cx="2011680" cy="1526345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536192"/>
            <a:ext cx="18745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+ 4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Instruction[31:0]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41448" y="1005840"/>
            <a:ext cx="2011680" cy="41148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ID/EX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41448" y="1463040"/>
            <a:ext cx="2011680" cy="1526345"/>
          </a:xfrm>
          <a:prstGeom prst="rect">
            <a:avLst/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32888" y="1536192"/>
            <a:ext cx="18745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+ 4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data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data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 (sign-ext)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RS, RT, RD addr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Shamt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signals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target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54296" y="1005840"/>
            <a:ext cx="201168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EX/MEM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54296" y="1463040"/>
            <a:ext cx="2011680" cy="1526345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45736" y="1536192"/>
            <a:ext cx="18745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result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data (for SW)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 register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flag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+ 4 (JAL)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target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signals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67144" y="1005840"/>
            <a:ext cx="2011680" cy="4114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7144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MEM/WB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67144" y="1463040"/>
            <a:ext cx="2011680" cy="1526345"/>
          </a:xfrm>
          <a:prstGeom prst="rect">
            <a:avLst/>
          </a:prstGeom>
          <a:solidFill>
            <a:srgbClr val="FFFFFF"/>
          </a:solidFill>
          <a:ln w="12700">
            <a:solidFill>
              <a:srgbClr val="42A5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58584" y="1536192"/>
            <a:ext cx="18745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data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result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 register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+ 4 (JAL)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signals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20478" y="3398050"/>
            <a:ext cx="5465299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register is clocked on the rising edge  |  Reset flushes to NOP (bubble)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A1779A-FBAC-889E-10A1-FF75BB59E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03" y="0"/>
            <a:ext cx="839126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94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Handling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hazards solved automatically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0" cy="1097280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1005840"/>
            <a:ext cx="7863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Hazard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37160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After Write: instruction reads a register before a previous instruction writes it 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167335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Forwarding: EX/MEM and MEM/WB values forwarded directly to ALU inputs without stalling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640080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3317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2331720"/>
            <a:ext cx="7863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97280" y="2377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Load-Use Hazard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69748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 followed immediately by an instruction that uses the loaded value 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99923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1-cycle stall: PC and IF/ID frozen, bubble inserted into ID/EX pipeline register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640080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65760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" y="3657600"/>
            <a:ext cx="7863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3703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Hazard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02336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Branch/Jump destination unknown until MEM stage (branch) or ID stage (jump) 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432511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assume not-taken, flush 2 instructions if taken. Jump: flush 1 instruction (J/JAL/JR)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Unit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most data hazards without stalling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ForwardA (rs input to ALU)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4114800" cy="11704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file (no hazard)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MEM/WB stage (2 cycles ago)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EX/MEM stage (1 cycle ago)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ForwardB (rt input to ALU)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4114800" cy="11704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file (no hazard)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MEM/WB stage (2 cycles ago)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EX/MEM stage (1 cycle ago)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1417320"/>
            <a:ext cx="41148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54880" y="1417320"/>
            <a:ext cx="41148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9"/>
          <p:cNvSpPr/>
          <p:nvPr/>
        </p:nvSpPr>
        <p:spPr>
          <a:xfrm>
            <a:off x="274320" y="1417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46304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54880" y="1417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forwardB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4360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74320" y="2598127"/>
            <a:ext cx="724486" cy="357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ar-EG" sz="1300" b="1" dirty="0">
              <a:solidFill>
                <a:srgbClr val="0A162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4F1ADFE-EE86-03CA-077E-57581AB98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096213"/>
            <a:ext cx="8991600" cy="1974135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8D45B5FF-ED4E-6078-9A3F-15219B0AA624}"/>
              </a:ext>
            </a:extLst>
          </p:cNvPr>
          <p:cNvSpPr/>
          <p:nvPr/>
        </p:nvSpPr>
        <p:spPr>
          <a:xfrm>
            <a:off x="0" y="914401"/>
            <a:ext cx="152400" cy="41559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3FAF2-8FAF-2EB6-DB26-ABC079CDB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C52173-7583-B480-ED49-0786A257403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E490812-913B-9C6B-2374-634014A19CBF}"/>
              </a:ext>
            </a:extLst>
          </p:cNvPr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A2A534-5A68-3D42-3EB9-95D6D75557DA}"/>
              </a:ext>
            </a:extLst>
          </p:cNvPr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Data Hazard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7FBBA9B-2BCE-3D78-EFEB-27A0C142606B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55EEE8F-003D-A2E8-0BB5-22C0642F12E6}"/>
              </a:ext>
            </a:extLst>
          </p:cNvPr>
          <p:cNvSpPr/>
          <p:nvPr/>
        </p:nvSpPr>
        <p:spPr>
          <a:xfrm>
            <a:off x="594360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7E8C74D4-CE74-2F84-9C4B-184A6CDF852F}"/>
              </a:ext>
            </a:extLst>
          </p:cNvPr>
          <p:cNvSpPr/>
          <p:nvPr/>
        </p:nvSpPr>
        <p:spPr>
          <a:xfrm>
            <a:off x="320040" y="1023643"/>
            <a:ext cx="2217420" cy="1353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Example: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				 	</a:t>
            </a:r>
            <a:r>
              <a:rPr lang="en-US" alt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  <a:t>add </a:t>
            </a:r>
            <a:r>
              <a:rPr lang="en-US" altLang="en-US" sz="1600" dirty="0">
                <a:solidFill>
                  <a:srgbClr val="C00000"/>
                </a:solidFill>
                <a:latin typeface="Arial Black" panose="020B0A04020102020204" pitchFamily="34" charset="0"/>
              </a:rPr>
              <a:t>$1</a:t>
            </a:r>
            <a:r>
              <a:rPr lang="en-US" alt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  <a:t>,$1,$2</a:t>
            </a:r>
            <a:br>
              <a:rPr lang="en-US" alt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alt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  <a:t>	add </a:t>
            </a:r>
            <a:r>
              <a:rPr lang="en-US" altLang="en-US" sz="1600" dirty="0">
                <a:solidFill>
                  <a:srgbClr val="C00000"/>
                </a:solidFill>
                <a:latin typeface="Arial Black" panose="020B0A04020102020204" pitchFamily="34" charset="0"/>
              </a:rPr>
              <a:t>$1</a:t>
            </a:r>
            <a:r>
              <a:rPr lang="en-US" alt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  <a:t>,$1,$3</a:t>
            </a:r>
            <a:br>
              <a:rPr lang="en-US" alt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alt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  <a:t>	add $1,</a:t>
            </a:r>
            <a:r>
              <a:rPr lang="en-US" altLang="en-US" sz="1600" dirty="0">
                <a:solidFill>
                  <a:srgbClr val="C00000"/>
                </a:solidFill>
                <a:latin typeface="Arial Black" panose="020B0A04020102020204" pitchFamily="34" charset="0"/>
              </a:rPr>
              <a:t>$1</a:t>
            </a:r>
            <a:r>
              <a:rPr lang="en-US" alt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  <a:t>,$4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gency FB" panose="020B0503020202020204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51D49951-5B27-DE8B-D97A-E29946755782}"/>
              </a:ext>
            </a:extLst>
          </p:cNvPr>
          <p:cNvSpPr/>
          <p:nvPr/>
        </p:nvSpPr>
        <p:spPr>
          <a:xfrm>
            <a:off x="320040" y="4119857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D820B125-337A-A5F4-F48E-954ECDC1048F}"/>
              </a:ext>
            </a:extLst>
          </p:cNvPr>
          <p:cNvSpPr/>
          <p:nvPr/>
        </p:nvSpPr>
        <p:spPr>
          <a:xfrm>
            <a:off x="502920" y="4193009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Rule:</a:t>
            </a:r>
            <a:endParaRPr lang="en-US" sz="13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DCBE17F4-452C-9139-CF3C-5E501DD97C10}"/>
              </a:ext>
            </a:extLst>
          </p:cNvPr>
          <p:cNvSpPr/>
          <p:nvPr/>
        </p:nvSpPr>
        <p:spPr>
          <a:xfrm>
            <a:off x="1965960" y="4193009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EX/MEM forwarding takes priority over MEM/WB forwarding. If both match, use the most recent (EX/MEM). Destination register $0 is never forwarded.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C2F310B-34D2-B8F9-0860-A2D1DEE32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240" y="1003068"/>
            <a:ext cx="4495800" cy="308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32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92044D61-8371-8B71-7261-DAACA0385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63" y="1750314"/>
            <a:ext cx="9009437" cy="2484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A68B5-12BE-00C4-E4A2-43D2A5167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13F579-C086-5630-14A0-6C5ECDC0BA8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85F9AB4-30FE-8D52-A4D4-BD00072D74C2}"/>
              </a:ext>
            </a:extLst>
          </p:cNvPr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ED2F64-7327-CB0F-6216-4D9D3EC5C0E7}"/>
              </a:ext>
            </a:extLst>
          </p:cNvPr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result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9BDB6A-88C5-5F6A-2C79-22BF49A23B09}"/>
              </a:ext>
            </a:extLst>
          </p:cNvPr>
          <p:cNvSpPr/>
          <p:nvPr/>
        </p:nvSpPr>
        <p:spPr>
          <a:xfrm>
            <a:off x="320040" y="548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C87CF12-F4DE-E6CB-2373-4E7D45CE6700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5B3365-B359-65D2-DB44-DC722519C5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09" b="9684"/>
          <a:stretch>
            <a:fillRect/>
          </a:stretch>
        </p:blipFill>
        <p:spPr>
          <a:xfrm>
            <a:off x="291846" y="1035614"/>
            <a:ext cx="8560308" cy="391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55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Waveform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Waveform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182880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0280" y="149047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clock - all pipeline registers update on rising edge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92808"/>
            <a:ext cx="182880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92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19202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 - increments by 4 each cycle, jumps on branch/jump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182880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ifid_instr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0280" y="235000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entering the pipeline - changes every cycle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752344"/>
            <a:ext cx="182880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523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40280" y="2779776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HIGH for 1 cycle after LW when next instr uses loaded register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182112"/>
            <a:ext cx="182880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82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branch_taken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320954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HIGH when BEQ/BNE condition is true - PC jumps to target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611880"/>
            <a:ext cx="182880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forwardA/B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40280" y="36393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00=no forward, 01=from MEM/WB, 10=from EX/MEM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041648"/>
            <a:ext cx="182880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0416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wb_rd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40280" y="4069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register being written (in decimal: 1-31)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471416"/>
            <a:ext cx="182880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4714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wb_data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40280" y="449884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written to destination register - verify against expected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45720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0789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pipeline: IF, ID, EX, MEM, WB - implemented fully in VHDL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457200" cy="45720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828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forwarding eliminates most RAW hazards with zero stalls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5786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Load-use hazard detected and resolved with a single stall cycle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300984"/>
            <a:ext cx="457200" cy="457200"/>
          </a:xfrm>
          <a:prstGeom prst="ellipse">
            <a:avLst/>
          </a:prstGeom>
          <a:solidFill>
            <a:srgbClr val="FF8C6B"/>
          </a:solidFill>
          <a:ln w="12700">
            <a:solidFill>
              <a:srgbClr val="FF8C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32841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and jump hazards resolved with flush - assume not-taken policy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050792"/>
            <a:ext cx="457200" cy="457200"/>
          </a:xfrm>
          <a:prstGeom prst="ellipse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07822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ModelSim: all instruction groups and hazard scenarios pass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375</TotalTime>
  <Words>903</Words>
  <Application>Microsoft Office PowerPoint</Application>
  <PresentationFormat>On-screen Show (16:9)</PresentationFormat>
  <Paragraphs>217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Agency FB</vt:lpstr>
      <vt:lpstr>Arial</vt:lpstr>
      <vt:lpstr>Arial Black</vt:lpstr>
      <vt:lpstr>Calibri</vt:lpstr>
      <vt:lpstr>Calibri Light</vt:lpstr>
      <vt:lpstr>Consolas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احمد طارق المرغنى محمود امام</cp:lastModifiedBy>
  <cp:revision>4</cp:revision>
  <dcterms:created xsi:type="dcterms:W3CDTF">2026-05-21T22:09:16Z</dcterms:created>
  <dcterms:modified xsi:type="dcterms:W3CDTF">2026-05-26T15:54:23Z</dcterms:modified>
</cp:coreProperties>
</file>